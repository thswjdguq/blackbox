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3cb487e924a87" /><Relationship Type="http://schemas.openxmlformats.org/officeDocument/2006/relationships/extended-properties" Target="/docProps/app.xml" Id="Rfaeeeba51d544e7f" /><Relationship Type="http://schemas.openxmlformats.org/officeDocument/2006/relationships/officeDocument" Target="/ppt/presentation.xml" Id="R71883cf2c6bd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c8c7252b8d49c2"/>
  </p:sldMasterIdLst>
  <p:notesMasterIdLst>
    <p:notesMasterId xmlns:r="http://schemas.openxmlformats.org/officeDocument/2006/relationships" r:id="Rcf0f7c7db73249be"/>
  </p:notesMasterIdLst>
  <p:sldIdLst>
    <p:sldId xmlns:r="http://schemas.openxmlformats.org/officeDocument/2006/relationships" id="256" r:id="R3d1fe0a5a1524a9a"/>
    <p:sldId xmlns:r="http://schemas.openxmlformats.org/officeDocument/2006/relationships" id="257" r:id="R81fc992d7ea94879"/>
    <p:sldId xmlns:r="http://schemas.openxmlformats.org/officeDocument/2006/relationships" id="258" r:id="Rf76c1ad5fb764111"/>
    <p:sldId xmlns:r="http://schemas.openxmlformats.org/officeDocument/2006/relationships" id="259" r:id="R7ca09f83826a4bbe"/>
    <p:sldId xmlns:r="http://schemas.openxmlformats.org/officeDocument/2006/relationships" id="260" r:id="R79f432eccbd24443"/>
    <p:sldId xmlns:r="http://schemas.openxmlformats.org/officeDocument/2006/relationships" id="261" r:id="Re9339a4eea524a20"/>
    <p:sldId xmlns:r="http://schemas.openxmlformats.org/officeDocument/2006/relationships" id="262" r:id="R82d34268d96e4ec8"/>
    <p:sldId xmlns:r="http://schemas.openxmlformats.org/officeDocument/2006/relationships" id="263" r:id="R5fff08e32ab04b85"/>
    <p:sldId xmlns:r="http://schemas.openxmlformats.org/officeDocument/2006/relationships" id="264" r:id="Re4a84202dbce4c05"/>
    <p:sldId xmlns:r="http://schemas.openxmlformats.org/officeDocument/2006/relationships" id="265" r:id="R2d13d6bd4e434e5c"/>
    <p:sldId xmlns:r="http://schemas.openxmlformats.org/officeDocument/2006/relationships" id="266" r:id="Rc6ecfafdc804420e"/>
    <p:sldId xmlns:r="http://schemas.openxmlformats.org/officeDocument/2006/relationships" id="267" r:id="R317fc2675c914689"/>
    <p:sldId xmlns:r="http://schemas.openxmlformats.org/officeDocument/2006/relationships" id="268" r:id="R29b2583ad55940ec"/>
    <p:sldId xmlns:r="http://schemas.openxmlformats.org/officeDocument/2006/relationships" id="269" r:id="R6c7e646606924fda"/>
    <p:sldId xmlns:r="http://schemas.openxmlformats.org/officeDocument/2006/relationships" id="270" r:id="R844c311a3b1f4fb9"/>
    <p:sldId xmlns:r="http://schemas.openxmlformats.org/officeDocument/2006/relationships" id="271" r:id="Rc3ef747bc2034722"/>
    <p:sldId xmlns:r="http://schemas.openxmlformats.org/officeDocument/2006/relationships" id="272" r:id="Re5a49415d12e43e5"/>
    <p:sldId xmlns:r="http://schemas.openxmlformats.org/officeDocument/2006/relationships" id="273" r:id="R8913c90292354987"/>
    <p:sldId xmlns:r="http://schemas.openxmlformats.org/officeDocument/2006/relationships" id="274" r:id="R6ba07f1aee8d4794"/>
    <p:sldId xmlns:r="http://schemas.openxmlformats.org/officeDocument/2006/relationships" id="275" r:id="Rbcb412e0dd8940cd"/>
    <p:sldId xmlns:r="http://schemas.openxmlformats.org/officeDocument/2006/relationships" id="276" r:id="Rbb030e15f171448a"/>
    <p:sldId xmlns:r="http://schemas.openxmlformats.org/officeDocument/2006/relationships" id="277" r:id="R1011f6e5fbbb4e46"/>
    <p:sldId xmlns:r="http://schemas.openxmlformats.org/officeDocument/2006/relationships" id="278" r:id="R5bc0fba08e7245ec"/>
    <p:sldId xmlns:r="http://schemas.openxmlformats.org/officeDocument/2006/relationships" id="279" r:id="Ref1a4f649dc142c7"/>
    <p:sldId xmlns:r="http://schemas.openxmlformats.org/officeDocument/2006/relationships" id="280" r:id="R39defac6f17c4524"/>
    <p:sldId xmlns:r="http://schemas.openxmlformats.org/officeDocument/2006/relationships" id="281" r:id="R922ec8de3f34429d"/>
    <p:sldId xmlns:r="http://schemas.openxmlformats.org/officeDocument/2006/relationships" id="282" r:id="Rbeb0f5a2ea3b4b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f1251f284d482c" /><Relationship Type="http://schemas.openxmlformats.org/officeDocument/2006/relationships/slideMaster" Target="/ppt/slideMasters/slideMaster1.xml" Id="R27c8c7252b8d49c2" /><Relationship Type="http://schemas.openxmlformats.org/officeDocument/2006/relationships/notesMaster" Target="/ppt/notesMasters/notesMaster1.xml" Id="Rcf0f7c7db73249be" /><Relationship Type="http://schemas.openxmlformats.org/officeDocument/2006/relationships/presProps" Target="/ppt/presProps.xml" Id="R2e470659e60445c1" /><Relationship Type="http://schemas.openxmlformats.org/officeDocument/2006/relationships/tableStyles" Target="/ppt/tableStyles.xml" Id="R5a91fca2d9154d7d" /><Relationship Type="http://schemas.openxmlformats.org/officeDocument/2006/relationships/slide" Target="/ppt/slides/slide1.xml" Id="R3d1fe0a5a1524a9a" /><Relationship Type="http://schemas.openxmlformats.org/officeDocument/2006/relationships/slide" Target="/ppt/slides/slide2.xml" Id="R81fc992d7ea94879" /><Relationship Type="http://schemas.openxmlformats.org/officeDocument/2006/relationships/slide" Target="/ppt/slides/slide3.xml" Id="Rf76c1ad5fb764111" /><Relationship Type="http://schemas.openxmlformats.org/officeDocument/2006/relationships/slide" Target="/ppt/slides/slide4.xml" Id="R7ca09f83826a4bbe" /><Relationship Type="http://schemas.openxmlformats.org/officeDocument/2006/relationships/slide" Target="/ppt/slides/slide5.xml" Id="R79f432eccbd24443" /><Relationship Type="http://schemas.openxmlformats.org/officeDocument/2006/relationships/slide" Target="/ppt/slides/slide6.xml" Id="Re9339a4eea524a20" /><Relationship Type="http://schemas.openxmlformats.org/officeDocument/2006/relationships/slide" Target="/ppt/slides/slide7.xml" Id="R82d34268d96e4ec8" /><Relationship Type="http://schemas.openxmlformats.org/officeDocument/2006/relationships/slide" Target="/ppt/slides/slide8.xml" Id="R5fff08e32ab04b85" /><Relationship Type="http://schemas.openxmlformats.org/officeDocument/2006/relationships/slide" Target="/ppt/slides/slide9.xml" Id="Re4a84202dbce4c05" /><Relationship Type="http://schemas.openxmlformats.org/officeDocument/2006/relationships/slide" Target="/ppt/slides/slide10.xml" Id="R2d13d6bd4e434e5c" /><Relationship Type="http://schemas.openxmlformats.org/officeDocument/2006/relationships/slide" Target="/ppt/slides/slide11.xml" Id="Rc6ecfafdc804420e" /><Relationship Type="http://schemas.openxmlformats.org/officeDocument/2006/relationships/slide" Target="/ppt/slides/slide12.xml" Id="R317fc2675c914689" /><Relationship Type="http://schemas.openxmlformats.org/officeDocument/2006/relationships/slide" Target="/ppt/slides/slide13.xml" Id="R29b2583ad55940ec" /><Relationship Type="http://schemas.openxmlformats.org/officeDocument/2006/relationships/slide" Target="/ppt/slides/slide14.xml" Id="R6c7e646606924fda" /><Relationship Type="http://schemas.openxmlformats.org/officeDocument/2006/relationships/slide" Target="/ppt/slides/slide15.xml" Id="R844c311a3b1f4fb9" /><Relationship Type="http://schemas.openxmlformats.org/officeDocument/2006/relationships/slide" Target="/ppt/slides/slide16.xml" Id="Rc3ef747bc2034722" /><Relationship Type="http://schemas.openxmlformats.org/officeDocument/2006/relationships/slide" Target="/ppt/slides/slide17.xml" Id="Re5a49415d12e43e5" /><Relationship Type="http://schemas.openxmlformats.org/officeDocument/2006/relationships/slide" Target="/ppt/slides/slide18.xml" Id="R8913c90292354987" /><Relationship Type="http://schemas.openxmlformats.org/officeDocument/2006/relationships/slide" Target="/ppt/slides/slide19.xml" Id="R6ba07f1aee8d4794" /><Relationship Type="http://schemas.openxmlformats.org/officeDocument/2006/relationships/slide" Target="/ppt/slides/slide20.xml" Id="Rbcb412e0dd8940cd" /><Relationship Type="http://schemas.openxmlformats.org/officeDocument/2006/relationships/slide" Target="/ppt/slides/slide21.xml" Id="Rbb030e15f171448a" /><Relationship Type="http://schemas.openxmlformats.org/officeDocument/2006/relationships/slide" Target="/ppt/slides/slide22.xml" Id="R1011f6e5fbbb4e46" /><Relationship Type="http://schemas.openxmlformats.org/officeDocument/2006/relationships/slide" Target="/ppt/slides/slide23.xml" Id="R5bc0fba08e7245ec" /><Relationship Type="http://schemas.openxmlformats.org/officeDocument/2006/relationships/slide" Target="/ppt/slides/slide24.xml" Id="Ref1a4f649dc142c7" /><Relationship Type="http://schemas.openxmlformats.org/officeDocument/2006/relationships/slide" Target="/ppt/slides/slide25.xml" Id="R39defac6f17c4524" /><Relationship Type="http://schemas.openxmlformats.org/officeDocument/2006/relationships/slide" Target="/ppt/slides/slide26.xml" Id="R922ec8de3f34429d" /><Relationship Type="http://schemas.openxmlformats.org/officeDocument/2006/relationships/slide" Target="/ppt/slides/slide27.xml" Id="Rbeb0f5a2ea3b4b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360439d0bf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4ea622ea16439f" /><Relationship Type="http://schemas.openxmlformats.org/officeDocument/2006/relationships/notesMaster" Target="/ppt/notesMasters/notesMaster1.xml" Id="Rd136bcf42f1e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27509b6c384f25" /><Relationship Type="http://schemas.openxmlformats.org/officeDocument/2006/relationships/notesMaster" Target="/ppt/notesMasters/notesMaster1.xml" Id="Rb67c2ff2f29b4e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4844d868b04d51" /><Relationship Type="http://schemas.openxmlformats.org/officeDocument/2006/relationships/notesMaster" Target="/ppt/notesMasters/notesMaster1.xml" Id="R1047a851de674e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b77478d69e44cf" /><Relationship Type="http://schemas.openxmlformats.org/officeDocument/2006/relationships/notesMaster" Target="/ppt/notesMasters/notesMaster1.xml" Id="Rb0a555ac87e746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dd3511277d43c6" /><Relationship Type="http://schemas.openxmlformats.org/officeDocument/2006/relationships/notesMaster" Target="/ppt/notesMasters/notesMaster1.xml" Id="Rd880189851054c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8c9600b0654f44" /><Relationship Type="http://schemas.openxmlformats.org/officeDocument/2006/relationships/notesMaster" Target="/ppt/notesMasters/notesMaster1.xml" Id="Rf2ee4f47d28747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929a59ee6479a" /><Relationship Type="http://schemas.openxmlformats.org/officeDocument/2006/relationships/notesMaster" Target="/ppt/notesMasters/notesMaster1.xml" Id="R04d7cfac902e46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9258fc99c44d4e" /><Relationship Type="http://schemas.openxmlformats.org/officeDocument/2006/relationships/notesMaster" Target="/ppt/notesMasters/notesMaster1.xml" Id="R6bd34b6bbcdc49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f8ad80dd04be1" /><Relationship Type="http://schemas.openxmlformats.org/officeDocument/2006/relationships/notesMaster" Target="/ppt/notesMasters/notesMaster1.xml" Id="R4f1e928225a94f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9e65fbeb584f10" /><Relationship Type="http://schemas.openxmlformats.org/officeDocument/2006/relationships/notesMaster" Target="/ppt/notesMasters/notesMaster1.xml" Id="Rbb0cb312558940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e99439ea50483e" /><Relationship Type="http://schemas.openxmlformats.org/officeDocument/2006/relationships/notesMaster" Target="/ppt/notesMasters/notesMaster1.xml" Id="Rb916e34344f147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67f8d8c440484c" /><Relationship Type="http://schemas.openxmlformats.org/officeDocument/2006/relationships/notesMaster" Target="/ppt/notesMasters/notesMaster1.xml" Id="R3c67a9bdb1f144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e40fe9f5f74bfc" /><Relationship Type="http://schemas.openxmlformats.org/officeDocument/2006/relationships/notesMaster" Target="/ppt/notesMasters/notesMaster1.xml" Id="R65a181b8eaf446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18fdd3bd0b46ad" /><Relationship Type="http://schemas.openxmlformats.org/officeDocument/2006/relationships/notesMaster" Target="/ppt/notesMasters/notesMaster1.xml" Id="Re1a938ce074d4a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7485a7a0214148" /><Relationship Type="http://schemas.openxmlformats.org/officeDocument/2006/relationships/notesMaster" Target="/ppt/notesMasters/notesMaster1.xml" Id="R6ee2024d875445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971a193f284935" /><Relationship Type="http://schemas.openxmlformats.org/officeDocument/2006/relationships/notesMaster" Target="/ppt/notesMasters/notesMaster1.xml" Id="R5a6aaaf1cc6748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77a6b4aa7a41ad" /><Relationship Type="http://schemas.openxmlformats.org/officeDocument/2006/relationships/notesMaster" Target="/ppt/notesMasters/notesMaster1.xml" Id="R01a097e42f3d45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5a17fd982141de" /><Relationship Type="http://schemas.openxmlformats.org/officeDocument/2006/relationships/notesMaster" Target="/ppt/notesMasters/notesMaster1.xml" Id="R1fd56968199849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213bc6a8dd4df3" /><Relationship Type="http://schemas.openxmlformats.org/officeDocument/2006/relationships/notesMaster" Target="/ppt/notesMasters/notesMaster1.xml" Id="Re5740df61d1942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6f92feaa614bfe" /><Relationship Type="http://schemas.openxmlformats.org/officeDocument/2006/relationships/notesMaster" Target="/ppt/notesMasters/notesMaster1.xml" Id="R1feadc1be05e44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105875d32d4818" /><Relationship Type="http://schemas.openxmlformats.org/officeDocument/2006/relationships/notesMaster" Target="/ppt/notesMasters/notesMaster1.xml" Id="R85b2d208bfd045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7ea362ea4c4761" /><Relationship Type="http://schemas.openxmlformats.org/officeDocument/2006/relationships/notesMaster" Target="/ppt/notesMasters/notesMaster1.xml" Id="R826c1628144c47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003f1fd9e34d22" /><Relationship Type="http://schemas.openxmlformats.org/officeDocument/2006/relationships/notesMaster" Target="/ppt/notesMasters/notesMaster1.xml" Id="Rb0bd066f1ea5483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c508dbdc6af4692" /><Relationship Type="http://schemas.openxmlformats.org/officeDocument/2006/relationships/notesMaster" Target="/ppt/notesMasters/notesMaster1.xml" Id="R1d760b64746f41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161d57b1d8b4019" /><Relationship Type="http://schemas.openxmlformats.org/officeDocument/2006/relationships/notesMaster" Target="/ppt/notesMasters/notesMaster1.xml" Id="R2b0e6212a43848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89f8dd8b2d4671" /><Relationship Type="http://schemas.openxmlformats.org/officeDocument/2006/relationships/notesMaster" Target="/ppt/notesMasters/notesMaster1.xml" Id="Rc963f922917444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1c5c16c1254049" /><Relationship Type="http://schemas.openxmlformats.org/officeDocument/2006/relationships/notesMaster" Target="/ppt/notesMasters/notesMaster1.xml" Id="R61d1c9b969a64d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프로젝트명과 조 이름은 기존 자료를 유지했습니다. 사용자 지정 최신 명단: 팀장 송승준, 팀원 손정협, 손정효. 본 발표의 고도화 기능은 개발 계획이며 기존 구현과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명단 및 팀장: 사용자 확정 정보. 세부 역할은 현재 3인 구성에 맞춘 배정 제안이며 팀 합의에 따라 조정합니다. 기존 4인 문서의 송병철 및 기여율을 사용하지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목표 산업은 기획 방향입니다. 시장 규모, 고객 확보, 출품 의사는 확인되지 않았습니다. EXPO 희망 여부는 팀 합의 후 갱신합니다.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근거: docs/PMS_고도화_기획안_v2_사용자와수행흐름.md 1·4절. 고도화 목표를 설명하는 슬라이드입니다.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frontend/src/app/projects/[projectId]/page.tsx, backend/src/main/java/com/blackbox/service/MeetingService.java, entity/Task.java, entity/FileVault.java. 기존 회의에서 업무 생성은 이미 있으며 신규 기능으로 주장하지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차별성 및 우수성은 개발 목표와 효과 가설입니다. 경쟁 제품 대비 독점 기능 또는 검증된 성능 우위를 주장하지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Hash Vault를 결과물과 제출 버전에 연결하는 고도화입니다. SHA-256은 저장 기준과 파일 변경을 비교하는 기술이며 절대적 위변조 불가나 작성 진실성을 보장한다고 주장하지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참여도는 네 종류의 참여 여부 분류입니다. 근거: backend/src/main/java/com/blackbox/service/ScoreService.java 및 AlertService.java. 기존 발표 문서의 가중치 점수 설명을 현재 구현 사실로 재사용하지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근거: frontend/package.json 및 backend/build.gradle. 현재 저장소 기술을 활용하는 계획이며 최신 버전 비교 자료가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근거: backend/build.gradle, docker-compose.yml 및 기존 코드 분석 문서. Notion·Discord·Google Calendar는 선택 연동으로 유지하며 첫 과제 시작의 필수 조건으로 두지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승인 권한 및 프로젝트 경계는 서버에서 검사합니다. 통합본 최종 검토자는 제출 담당자와 다른 팀원을 기본으로 지정합니다. 외부 링크는 변경될 수 있으므로 확정 내용 고정이 필요한 자료는 파일로 남깁니다.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명단과 팀장 정보는 사용자 확정 사항입니다. 요소별 배정은 본 기획의 제안이며 팀 합의에 따라 변경합니다. 서버 담당자도 자기 기능의 화면 데이터 연결을 분담하고 손정효가 공통 UI를 검토합니다.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파일럿 모집은 아직 확보되지 않았습니다. 과제 복잡도와 학습 효과를 기록하고 소규모 결과를 전체 대학생에게 일반화하지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요약: 첫 사용자 3~6인 수업 과제 팀, 제출물 중심 관계, 반복 검토, 실제 제출 기록. 향후 효과는 파일럿으로 검증합니다.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출처: docs/PMS_고도화_기획안.md, docs/PMS_고도화_기획안_v2_사용자와수행흐름.md, frontend/package.json, backend/build.gradle, frontend/src/app/projects/[projectId]/page.tsx, backend/src/main/java/com/blackbox/entity/Task.java, entity/FileVault.java, service/MeetingService.java, service/ScoreService.java, service/AlertService.java. 현재 서비스 실행을 통한 사용성 평가는 실시하지 않았으며 코드 구조 분석입니다.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d758864e44e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00584a49a94a1e" /><Relationship Type="http://schemas.openxmlformats.org/officeDocument/2006/relationships/slideLayout" Target="/ppt/slideLayouts/slideLayout1.xml" Id="Rc08311521f28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8311521f28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4ba45918045ce" /><Relationship Type="http://schemas.openxmlformats.org/officeDocument/2006/relationships/notesSlide" Target="/ppt/notesSlides/notesSlide1.xml" Id="R132ca76eda01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2435b0fa0438d" /><Relationship Type="http://schemas.openxmlformats.org/officeDocument/2006/relationships/notesSlide" Target="/ppt/notesSlides/notesSlide2.xml" Id="Ra44404218dfe41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94179c8ee407f" /><Relationship Type="http://schemas.openxmlformats.org/officeDocument/2006/relationships/notesSlide" Target="/ppt/notesSlides/notesSlide3.xml" Id="R6a1107fd77a449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258b79c64398" /><Relationship Type="http://schemas.openxmlformats.org/officeDocument/2006/relationships/notesSlide" Target="/ppt/notesSlides/notesSlide4.xml" Id="R5f56bd5a0e854b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218affdcf469b" /><Relationship Type="http://schemas.openxmlformats.org/officeDocument/2006/relationships/notesSlide" Target="/ppt/notesSlides/notesSlide5.xml" Id="Rba2958b719174a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8ad11f8746b0" /><Relationship Type="http://schemas.openxmlformats.org/officeDocument/2006/relationships/notesSlide" Target="/ppt/notesSlides/notesSlide6.xml" Id="R256d2b2c1ad54c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b0c62612e49dd" /><Relationship Type="http://schemas.openxmlformats.org/officeDocument/2006/relationships/notesSlide" Target="/ppt/notesSlides/notesSlide7.xml" Id="R506ac44ae92f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f07c50db849ff" /><Relationship Type="http://schemas.openxmlformats.org/officeDocument/2006/relationships/notesSlide" Target="/ppt/notesSlides/notesSlide8.xml" Id="R195dac5a875b47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cac97f8e7400d" /><Relationship Type="http://schemas.openxmlformats.org/officeDocument/2006/relationships/notesSlide" Target="/ppt/notesSlides/notesSlide9.xml" Id="Rc30f000a44dc48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89a56c514acc" /><Relationship Type="http://schemas.openxmlformats.org/officeDocument/2006/relationships/notesSlide" Target="/ppt/notesSlides/notesSlide10.xml" Id="Rf269d1acc46a4e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afdc85502404c" /><Relationship Type="http://schemas.openxmlformats.org/officeDocument/2006/relationships/notesSlide" Target="/ppt/notesSlides/notesSlide11.xml" Id="R5648337fc49647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c53a3344a470c" /><Relationship Type="http://schemas.openxmlformats.org/officeDocument/2006/relationships/notesSlide" Target="/ppt/notesSlides/notesSlide12.xml" Id="R59bd85ca9b534d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f2c514d7f425e" /><Relationship Type="http://schemas.openxmlformats.org/officeDocument/2006/relationships/notesSlide" Target="/ppt/notesSlides/notesSlide13.xml" Id="Rc59fe6b935db40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163a04bcf45d6" /><Relationship Type="http://schemas.openxmlformats.org/officeDocument/2006/relationships/notesSlide" Target="/ppt/notesSlides/notesSlide14.xml" Id="R809391fa8dc34a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5cd6864944506" /><Relationship Type="http://schemas.openxmlformats.org/officeDocument/2006/relationships/notesSlide" Target="/ppt/notesSlides/notesSlide15.xml" Id="R15e6554e934248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4e5d9e0944f9a" /><Relationship Type="http://schemas.openxmlformats.org/officeDocument/2006/relationships/notesSlide" Target="/ppt/notesSlides/notesSlide16.xml" Id="R659a5c6f9bf74f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f03e824e44f73" /><Relationship Type="http://schemas.openxmlformats.org/officeDocument/2006/relationships/notesSlide" Target="/ppt/notesSlides/notesSlide17.xml" Id="R92171bfe7df742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eacbed951425c" /><Relationship Type="http://schemas.openxmlformats.org/officeDocument/2006/relationships/notesSlide" Target="/ppt/notesSlides/notesSlide18.xml" Id="R98a58c8434b94a6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00b3de83b435a" /><Relationship Type="http://schemas.openxmlformats.org/officeDocument/2006/relationships/notesSlide" Target="/ppt/notesSlides/notesSlide19.xml" Id="Rac53166148b744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b2728870a4f4a" /><Relationship Type="http://schemas.openxmlformats.org/officeDocument/2006/relationships/notesSlide" Target="/ppt/notesSlides/notesSlide20.xml" Id="Racbccfeb50a24a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ac53136c4152" /><Relationship Type="http://schemas.openxmlformats.org/officeDocument/2006/relationships/notesSlide" Target="/ppt/notesSlides/notesSlide21.xml" Id="Rc5774eb82f1341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7452241844430" /><Relationship Type="http://schemas.openxmlformats.org/officeDocument/2006/relationships/notesSlide" Target="/ppt/notesSlides/notesSlide22.xml" Id="R3f37f11a7a7b4a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10efd448f4a52" /><Relationship Type="http://schemas.openxmlformats.org/officeDocument/2006/relationships/notesSlide" Target="/ppt/notesSlides/notesSlide23.xml" Id="Rcee9083a4dd44b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65b5d57f341a5" /><Relationship Type="http://schemas.openxmlformats.org/officeDocument/2006/relationships/notesSlide" Target="/ppt/notesSlides/notesSlide24.xml" Id="Rf35d5173cba54b4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90fbc6d74acf" /><Relationship Type="http://schemas.openxmlformats.org/officeDocument/2006/relationships/notesSlide" Target="/ppt/notesSlides/notesSlide25.xml" Id="Rfd31068091a642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1258b335c45fe" /><Relationship Type="http://schemas.openxmlformats.org/officeDocument/2006/relationships/notesSlide" Target="/ppt/notesSlides/notesSlide26.xml" Id="R42bc384c8e53426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e4af0bef44a32" /><Relationship Type="http://schemas.openxmlformats.org/officeDocument/2006/relationships/notesSlide" Target="/ppt/notesSlides/notesSlide27.xml" Id="Rda332b5ca05240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2FFDB-4B64-49CD-9BB8-D06CB74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SSAK-LOG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2BB22-4999-40EC-9C65-369707C8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rPr>
              <a:t>대학생 팀 프로젝트 PMS 고도화 기획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7BA71-6AB1-4829-8221-EF43641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969B8-3BBA-4110-AEDB-83CD6B0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과제 시작부터 반복 검토와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제출까지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D8A72-9E05-4EDC-8390-DC4B0375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ED5C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8ED5CD"/>
                </a:solidFill>
                <a:latin typeface="Malgun Gothic"/>
                <a:ea typeface="Malgun Gothic"/>
                <a:cs typeface="Malgun Gothic"/>
              </a:rPr>
              <a:t>Team Blackbox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74B4A-CC1A-4C0C-A0CB-41F8EE3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팀장 송승준    팀원 손정협 · 손정효</a:t>
            </a:r>
          </a:p>
        </p:txBody>
      </p:sp>
    </p:spTree>
    <p:extLst>
      <p:ext uri="{BB962C8B-B14F-4D97-AF65-F5344CB8AC3E}">
        <p14:creationId xmlns:p14="http://schemas.microsoft.com/office/powerpoint/2010/main" val="182512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1F75E-EF6C-43A3-A679-F0BF773A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BA0B3-7436-41A2-855D-70276407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대상 사용자와 개선 근거를 먼저 설명하고, 구현 계획으로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B5ECC-04AD-4600-832E-E53FCFA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D8991-6C41-442F-8806-944B865A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01  팀 소개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1090E-C502-4B12-BDB0-94D1E20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23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조 이름과 각오, 목표 산업, 신구 EXPO 출품 여부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1564F-D246-4D10-A6F3-154C8B8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02  프로젝트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DD4E1-64B5-43FA-B22D-42943AE4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823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주제와 개요, 대상 사용자, 핵심 기능과 수행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F8391-796E-4784-8166-64B75100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03  고도화 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BD7AB-F103-43B9-8FE9-65B39A32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823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기존 개선점, 우선 기능, 적용 기술, 구현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8CAE8-CAD6-408C-97EE-B7D8D2B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04  수행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8D764-8831-451A-9282-6264825F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823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스터디, 요소별 담당자, 개발 일정과 검증</a:t>
            </a:r>
          </a:p>
        </p:txBody>
      </p:sp>
    </p:spTree>
    <p:extLst>
      <p:ext uri="{BB962C8B-B14F-4D97-AF65-F5344CB8AC3E}">
        <p14:creationId xmlns:p14="http://schemas.microsoft.com/office/powerpoint/2010/main" val="190769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F8ABD-4835-4AC3-A01C-F2A927E9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조 소개와 각오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809AF-6ED4-4EB8-BD28-63C951B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Team Blackbox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A65A2-E41D-4D43-A975-25415FBE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905000"/>
                <a:gridCol w="73533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고도화의 주 역할 제안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서버·DB·검토·제출 관리, 일정 총괄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업무·활동 집계·회의 AI·보고서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흐름·화면·상태 연결·사용성 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6655C-9A5A-48DA-B02C-D423A69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668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“학생 팀이 실제 과제 하나를 시작부터 제출까지</a:t>
            </a:r>
          </a:p>
          <a:p xmlns:a="http://schemas.openxmlformats.org/drawingml/2006/main">
            <a:pPr>
              <a:defRPr sz="2325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운영할 수 있는 서비스를 완성하겠습니다.”</a:t>
            </a:r>
          </a:p>
        </p:txBody>
      </p:sp>
    </p:spTree>
    <p:extLst>
      <p:ext uri="{BB962C8B-B14F-4D97-AF65-F5344CB8AC3E}">
        <p14:creationId xmlns:p14="http://schemas.microsoft.com/office/powerpoint/2010/main" val="777029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EDD77-BFD4-4959-B5FD-40AF0986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진출 목표 산업과 EXPO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B247B-8AA9-4429-AEA7-E1CBDFE1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교육 소프트웨어와 협업 소프트웨어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817C1-4387-4A18-ADC6-D8C63E60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18079-FBDB-47E6-97F9-88DA4667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목표 산업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7A7E0-C090-4AB1-B10A-BA3950EF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EdTech 및 협업 SaaS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수업 과제의 실행과 제출 과정을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DF59F-F78B-4102-90E1-2BBA2BF1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첫 적용 대상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E7E12-20A5-437D-BB87-5A8372F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공동 결과물을 제출하는 대학생 팀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한 과목의 소수 팀부터 사용성을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CACEC-F23A-47C6-B68B-DD050EA6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신구 EXPO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14F7D-C96D-4BA4-9571-09C75CD3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출품 희망 여부: 미정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출품 시 초안 검토부터 제출까지 3분 시연</a:t>
            </a:r>
          </a:p>
        </p:txBody>
      </p:sp>
    </p:spTree>
    <p:extLst>
      <p:ext uri="{BB962C8B-B14F-4D97-AF65-F5344CB8AC3E}">
        <p14:creationId xmlns:p14="http://schemas.microsoft.com/office/powerpoint/2010/main" val="354053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5A517-1739-4DB9-A574-56D41DD2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프로젝트 주제와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0E321-7F81-447F-9E5A-5368BF76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SSAK-LOG: 제출물 중심의 대학생 팀 프로젝트 PMS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3A02F-0CEA-4E2F-A260-F457F46C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0D48C-26B7-4F48-AD71-9AF9D947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공동 결과물을 만드는 팀이</a:t>
            </a:r>
          </a:p>
          <a:p xmlns:a="http://schemas.openxmlformats.org/drawingml/2006/main">
            <a:pPr>
              <a:defRPr sz="2925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중간부터 검토하고 제출본을 확정하는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FF4C3-37D4-4F85-88EE-20B96463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관리의 중심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DC16D-705D-4198-A5EB-D45BC678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823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최종 보고서·발표자료·작품 등 교수님께 낼 제출물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82BF9-6BB6-485A-9CB7-F00CB60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연결되는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5CBE1-A401-4A44-A04E-DFF2D3C9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823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요구사항, 업무, 결과 버전, 피드백, 제출 기록</a:t>
            </a:r>
          </a:p>
        </p:txBody>
      </p:sp>
    </p:spTree>
    <p:extLst>
      <p:ext uri="{BB962C8B-B14F-4D97-AF65-F5344CB8AC3E}">
        <p14:creationId xmlns:p14="http://schemas.microsoft.com/office/powerpoint/2010/main" val="1967544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9BE9C-22B9-4994-A5B1-63F8DAE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대상 사용자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E0BE2-B50B-494D-B448-D3182D4A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한 학기 동안 공동 결과물을 제출하는 3~6인 대학생 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B7A06-09AF-42FB-9CD6-EFDD57D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37A18-D3CE-45C3-B0C7-306F28CC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팀장·제출 담당자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016C4-A0EB-4AA2-9028-D109C239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3360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빠진 요구사항과 늦어진 작업을 확인하고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통합본과 실제 제출을 책임진다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E5264-93A1-4F10-A96D-CBA845BB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팀원·검토 담당자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2BB22-4478-4EB9-B06D-43444FC4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자기 업무와 완료 기준을 확인하고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초안을 공유하며 다른 팀원의 결과를 검토한다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6FF14-3B7B-49B3-B524-99AEB39D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교수자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EDBF8-2C2D-47C2-821B-E86327E9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기존 수업 채널로 결과물을 받고 피드백한다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교수자 가입 없이 학생의 전체 흐름이 동작한다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4CBFA-69C0-45B8-9ADF-E7E0D0DE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초기 범위: 수업 과제형 팀 프로젝트. 개인 과제·기업 프로젝트·연구실 운영은 제외</a:t>
            </a:r>
          </a:p>
        </p:txBody>
      </p:sp>
    </p:spTree>
    <p:extLst>
      <p:ext uri="{BB962C8B-B14F-4D97-AF65-F5344CB8AC3E}">
        <p14:creationId xmlns:p14="http://schemas.microsoft.com/office/powerpoint/2010/main" val="704291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7D5CB-2A34-421F-B1E6-C3FF3BED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전공이 달라도 같은 제출 흐름을 사용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8A2EE-E7B5-4C1B-91B8-788CA665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작성 도구는 유지하고, 파일·링크·설명을 제출물에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1E2B4-14D5-4582-83AF-D93877E2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333750"/>
                <a:gridCol w="5543550"/>
              </a:tblGrid>
              <a:tr h="6896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예시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 기준 예시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시장분석 보고서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 출처와 전략의 근거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시안·작품 설명서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 반영과 지정 규격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인문사회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 보고서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 출처와 분석 내용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실행물·시연 자료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조건과 실행 방법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CC4AA-17B4-40A5-AA56-95C65511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적용 예시이며 실제 사용 사례가 아닙니다. 전공별 전문 편집 도구는 구현 범위에서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1777089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13A70-20B3-4F24-9DD2-BE469744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기존 프로젝트의 개선점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E9383-B68A-4474-B95A-9AC3C1C4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기존 화면과 데이터 구조를 기준으로 도출했습니다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FD5E8-8DB3-4C67-8133-44953845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95750"/>
                <a:gridCol w="3829050"/>
              </a:tblGrid>
              <a:tr h="68961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구조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흐름에서 생기는 문제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고도화 방향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현황 중심 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다음 행동을 다시 찾아야 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업무·검토·누락 먼저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출처를 설명에 저장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결정과 실행 상태 추적이 약함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결정과 업무를 ID로 연결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완료 표시만 존재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검토된 완료인지 구분 어려움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버전별 검토 후 완료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단위 파일 보관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업무·제출본과의 연결이 약함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 버전과 확정본 연결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B3B84-DF4A-4611-AF36-F388233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분석 범위: 저장소 코드와 문서. 실제 사용자 관찰 결과와 교수님 발언을 대신하지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294167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6ECD8-1E57-4752-B5C1-BEF798B1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고도화 기능의 우선 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B05E0-910A-4086-9A37-A2F591A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제출 과정의 단절을 해결하고, 시연으로 검증할 수 있는 기능을 먼저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B8C15-1037-4BFF-8891-5AF0D18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876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62375"/>
                <a:gridCol w="3876675"/>
              </a:tblGrid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기능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이유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차별성·우수성의 검증 방향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 기반 업무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 일을 과제 요구사항과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 항목과 다음 행동 발견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검토와 수정 추적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피드백을 실제 수정으로 연결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 순환의 완주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통합본 검토와 제출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버전과 제출 상태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잘못된 버전·상태 혼동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709B4-3FC7-4608-B3AA-C8335AFF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차별화 방향: 대학 수업의 제출 주기에 맞춘 기본 흐름</a:t>
            </a:r>
          </a:p>
        </p:txBody>
      </p:sp>
    </p:spTree>
    <p:extLst>
      <p:ext uri="{BB962C8B-B14F-4D97-AF65-F5344CB8AC3E}">
        <p14:creationId xmlns:p14="http://schemas.microsoft.com/office/powerpoint/2010/main" val="45921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17530-C2EC-42FF-8CBE-0EC9CA8F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핵심 기능과 프로젝트 수행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8CD3E-C147-41FF-B17F-8CEB1E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제출물이 여러 개여도 동일한 흐름을 반복합니다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ECBC5-3502-431A-9C49-1F052CDD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762375"/>
                <a:gridCol w="5067300"/>
              </a:tblGrid>
              <a:tr h="642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학생의 행동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PMS의 동작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 과제 설정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요구사항과 제출일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제출물·기준·책임자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 업무 분담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작업을 나눠 수행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담당자·기한·완료 기준 연결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 반복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공유와 보완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의견·수정 항목·반영 버전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 통합본 검토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결과를 합쳐 확인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누락 확인과 후보 승인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  제출·종료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지정 경로로 제출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버전·제출 근거·종료 보관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305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93B04-08B4-470D-8DE2-84A75CA2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고도화 1. 제출물 기반 업무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3ECDF-A43E-4B3C-9C39-ECD63F62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누가 무엇을 끝내야 제출할 수 있는지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FF002-3A52-4B4C-A035-6035CDAF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C8810-16C1-4872-AEFA-88F9B54D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5B2EF-6DBC-4515-AC8A-9333A9F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제출물에 필수 요구사항을 등록하고 업무를 연결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업무마다 책임자·마감일·완료 기준을 지정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451D3-9F75-42AF-8B4C-D5E16517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적용 기술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129BD-0F6A-4C18-A433-D2CBC9CD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Next.js 입력 화면, Spring Boot API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PostgreSQL 관계 설계와 Flyway 마이그레이션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55014-E297-42D1-9576-30098BD5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차별성·우수성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D7794-0AD2-4866-A31D-64399AC8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학과별 작업 방식이 달라도 같은 틀로 관리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완료 업무 수와 제출 요구사항 충족도를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06AFF-AD1D-4378-BF12-0EF34918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담당 제안: 송승준(제출물·DB), 손정협(업무 API), 손정효(화면)</a:t>
            </a:r>
          </a:p>
        </p:txBody>
      </p:sp>
    </p:spTree>
    <p:extLst>
      <p:ext uri="{BB962C8B-B14F-4D97-AF65-F5344CB8AC3E}">
        <p14:creationId xmlns:p14="http://schemas.microsoft.com/office/powerpoint/2010/main" val="1186756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87C53-7C97-4170-8C9D-7A65EFE4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고도화 2. 작업 중간부터 반복 검토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16514-D9B7-4E44-BBC2-DF29E6D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진행 중인 초안에도 의견을 요청할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C5045-D4E1-4D57-A197-99FA1717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D5F8E-D911-430E-81D6-671C39F5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FF1AB-64BE-417E-98AB-BA5CCCF2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특정 버전에 중간 의견 또는 완료 검토 요청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필수 수정에 담당자·기한·반영 결과를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54012-EEF4-4AA4-96EA-7F34463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적용 기술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7D280-D002-4FD0-A907-A3B2C83E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버전·검토·수정 항목 모델, 상태 전환 API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Spring 트랜잭션과 역할 권한 검사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EEEE3-1C34-45DE-BA65-3A5FD97E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차별성·우수성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825D-94F4-4BCA-9C63-B90F439D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피드백을 남기는 데서 끝나지 않고 반영까지 추적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새 버전은 다시 검토하여 승인 대상을 명확히 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5199E-8A53-497D-B941-35CAA27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담당 제안: 송승준(검토·버전), 손정협(수정 항목), 손정효(화면)</a:t>
            </a:r>
          </a:p>
        </p:txBody>
      </p:sp>
    </p:spTree>
    <p:extLst>
      <p:ext uri="{BB962C8B-B14F-4D97-AF65-F5344CB8AC3E}">
        <p14:creationId xmlns:p14="http://schemas.microsoft.com/office/powerpoint/2010/main" val="17070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AB72A-D956-43A1-989A-1A3072EB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중간 검토와 완료 검토의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0EA0D-EEC5-477A-91B4-97ECDD16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검토는 프로젝트 전 과정에서 반복됩니다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AD57A-A6BF-45E7-90F8-65C8C98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91025"/>
                <a:gridCol w="4391025"/>
              </a:tblGrid>
              <a:tr h="63627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의견 요청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검토 요청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시점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초안·조사 방향을 확인할 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기준을 충족했을 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상태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중 유지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검토 중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의견 또는 수정 항목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또는 보완 요청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62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행동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후 계속 작업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시 완료, 보완 시 진행 중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3E664-AACD-4A44-AB0F-8FBB9A0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교수 피드백도 후속 업무로 연결합니다. 학생이 옮겨 적은 의견과 교수자의 직접 승인을 구분합니다</a:t>
            </a:r>
          </a:p>
        </p:txBody>
      </p:sp>
    </p:spTree>
    <p:extLst>
      <p:ext uri="{BB962C8B-B14F-4D97-AF65-F5344CB8AC3E}">
        <p14:creationId xmlns:p14="http://schemas.microsoft.com/office/powerpoint/2010/main" val="2372962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6284D-70EA-457A-82FF-7177986B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고도화 3. 통합본 검토와 최종 제출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97850-A753-4662-9992-0AADA80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개별 업무가 끝난 뒤, 통합된 결과물을 다시 확인합니다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842CD-25D8-4571-AE72-3C3AC736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EDA5E-67FC-49B2-AFC2-FAE3684D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471AC-26E2-49EB-882C-9E328152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제출 후보 버전 등록 후 필수 조건과 수정 항목 확인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승인된 파일을 확정하고 실제 제출 기록을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2CC61-74BE-4037-B949-1938624B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적용 기술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A2B06-1B4B-403A-805F-B2FC4625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기존 파일 저장소·SHA-256·ZIP 기능 확장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제출 버전 스냅샷과 제출 차수 데이터 모델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2F25F-3A6E-488A-A669-024DDFB3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차별성·우수성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D48B6-46F0-4C6E-A9A1-3D42687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8239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어떤 파일을 검토하고 제출했는지 추적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재제출해도 이전 제출 기록을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4AC4F-DAC1-4456-815D-C1BAC291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담당 제안: 송승준(확정·제출), 손정협(내보내기 연결), 손정효(제출 화면)</a:t>
            </a:r>
          </a:p>
        </p:txBody>
      </p:sp>
    </p:spTree>
    <p:extLst>
      <p:ext uri="{BB962C8B-B14F-4D97-AF65-F5344CB8AC3E}">
        <p14:creationId xmlns:p14="http://schemas.microsoft.com/office/powerpoint/2010/main" val="15516665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77BB1-C270-446D-8C3D-FC9E81DC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업무 완료와 실제 제출은 별도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508E1-BA5F-424A-A34A-DFEF8969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다운로드만으로 제출 완료를 표시하지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9886D-9D7B-4968-973C-D1231D40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CDEF6-B557-46A1-BB53-020A9180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업무 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0B593-F82F-4DDD-8FDE-F20EBAE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지정 검토자가 개별 작업의 결과 버전을 승인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44048-D41E-4E70-9083-DA134E5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제출 준비 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17E10-28D1-40C5-9E58-7258B8AE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통합본 승인과 필수 조건 확인을 마침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확정 파일을 다운로드할 수 있음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37117-569D-4ADF-B5C6-CA76B2EE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제출 기록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54B35-DDDF-41B1-84B6-072861CA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0055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담당자가 LMS·이메일 등으로 직접 제출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제출 시각·경로·버전·확인 근거를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E48D4-9004-442A-A8F5-94FA867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PMS의 담당자 제출 기록은 외부 시스템 접수 확인이나 교수자의 평가 승인을 뜻하지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2553961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B2E82-434B-4E7E-9598-EC0234C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기존 기능의 재사용과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1BC85-9D7F-4220-9806-4B1774D1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이미 구현된 자산을 전체 수행 흐름에 배치합니다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D65A9-2171-4C20-AD0C-8B7874A3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524375"/>
                <a:gridCol w="359092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기능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고도화 설명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및 담당 제안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회의록·AI 업무 추출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결정과 업무 연결, 확정 전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Claude·관계 API / 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칸반·프로젝트 홈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요청과 다음 행동 우선 표시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Next.js·Zustand / 손정효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보관·PDF·ZIP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버전·보고서 출처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저장·OpenPDF / 송승준·손정협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참여도·알림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 순위보다 지연·수정 근거 제공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기간별 집계 API / 손정협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4520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2C9C2-7549-4306-BE5A-3E1A3205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적용 기술과 기능: 화면·서버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94694-F4E8-4E04-842F-9BE00882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기존 기술을 유지하고 데이터 관계와 상태 규칙을 고도화합니다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60DF1-653C-47E1-BA90-AA96BA4A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76750"/>
                <a:gridCol w="421005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언어·기술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기능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프론트엔드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TypeScript, Next.js, React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제출물·업무·검토 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스타일·상태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Tailwind CSS, Zustand, Axios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UI, 데이터 갱신·오류 안내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보드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dnd-kit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상태가 있는 업무 보드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Java 17, Spring Boot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업무·검토·제출 API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인증·접근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Spring Security, 기존 JWT 인증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프로젝트·역할별 권한 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3767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A512B-5A7A-4C5B-B4A0-A6883C6D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적용 기술과 기능: 저장·개발·운영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50AF7-0EFE-46F8-9404-312DD45F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개발 도구와 서버 구성까지 기존 환경을 활용합니다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82956-0E13-4F5C-9BAA-C37EE36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76750"/>
                <a:gridCol w="421005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기술·도구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기능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데이터베이스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PostgreSQL, JPA, Flyway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제출물·검토 관계, 기존 데이터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파일·출력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저장소, SHA-256, OpenPDF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식별, PDF·ZIP 내보내기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보조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Claude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업무 초안, 사용자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도구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Git, Gradle, npm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관리, 빌드·검증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서버·배포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Docker Compose, Nginx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화면·API·DB 서비스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6968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81828-C7DF-46AB-84BE-E691BF63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구현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409D6-DC67-4AE9-88E5-549E662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첫 사용 검증에는 시작부터 제출까지의 필수 흐름을 완성합니다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E3E0C-C522-4C9A-8734-E8106D60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8639175"/>
              </a:tblGrid>
              <a:tr h="8429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대상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구현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제출물·요구사항, 업무 분담, 결과 버전</a:t>
                      </a:r>
                    </a:p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 검토·수정, 완료 검토, 통합본 확정</a:t>
                      </a:r>
                    </a:p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기록·종료, 내 다음 행동 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후순위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회의·AI 연결 고도화, 교수 피드백 전용 화면</a:t>
                      </a:r>
                    </a:p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주간보고 초안, 외부 알림 안정화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범위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LMS 자동 제출, 성적 자동 산정</a:t>
                      </a:r>
                    </a:p>
                    <a:p>
                      <a:r>
                        <a:rPr sz="187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공동 편집기, 화상회의, 학과별 전문 도구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3080C-84B5-43B1-A33C-1C1F62C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AI나 외부 연동 없이도 필수 흐름이 동작하도록 구현합니다</a:t>
            </a:r>
          </a:p>
        </p:txBody>
      </p:sp>
    </p:spTree>
    <p:extLst>
      <p:ext uri="{BB962C8B-B14F-4D97-AF65-F5344CB8AC3E}">
        <p14:creationId xmlns:p14="http://schemas.microsoft.com/office/powerpoint/2010/main" val="637393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9F508-6DF1-45FF-A30D-A58BCF75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예외 처리와 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41E77-8894-4ABA-86A8-C74238C6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실제 작업에서 되돌아가는 상황도 흐름에 포함합니다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64981-D8C0-43ED-9A27-67C4CBFE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91425"/>
              </a:tblGrid>
              <a:tr h="615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규칙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중 새 버전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버전에 재검토 요청, 기존 승인 이력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 수정 미해결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확정 차단, 예외 제출은 사유와 누락 표시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검토자 부재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팀장이 사유를 남기고 대체 검토자 지정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후 수정 요구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재개, 새 제출 차수 생성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완료 업무 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완료·검토 기록 없음으로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4246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F4076-603C-40A0-8A92-7D687CE7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스터디 계획과 공유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01F3D-6751-46D3-9509-C0E8815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고도화 프로젝트에도 필요한 지식을 식별해 구현과 함께 학습합니다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01AE-9188-420D-91CC-1F313BA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810125"/>
                <a:gridCol w="411480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제안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요소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 공유 산출물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관계형 모델링, 트랜잭션</a:t>
                      </a:r>
                    </a:p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권한·버전·제출 이력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ERD, 상태 전환표</a:t>
                      </a:r>
                    </a:p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검토·제출 API 시연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상태, 기간별 집계</a:t>
                      </a:r>
                    </a:p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구조화 AI 응답·보고서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명세, 응답 검증 예제</a:t>
                      </a:r>
                    </a:p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보고서 생성 시연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여정, 공통 UI</a:t>
                      </a:r>
                    </a:p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비동기 상태·사용성 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흐름, 공통 컴포넌트</a:t>
                      </a:r>
                    </a:p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수행 관찰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FFA52-9ADD-4AE2-83E1-689DA2C8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매주 1회 학습 내용과 구현 예제를 공유하고, 다른 팀원이 실제 시나리오로 확인합니다</a:t>
            </a:r>
          </a:p>
        </p:txBody>
      </p:sp>
    </p:spTree>
    <p:extLst>
      <p:ext uri="{BB962C8B-B14F-4D97-AF65-F5344CB8AC3E}">
        <p14:creationId xmlns:p14="http://schemas.microsoft.com/office/powerpoint/2010/main" val="17544376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C2A5D-44A0-4DA6-ADAF-6034B129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식별된 요소 및 요소별 담당자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7AE8-665B-4E72-A625-9AB23BE3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3인 팀 기준의 고도화 담당 배정안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E5E40-F0FA-41CE-9A18-E0E6E764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1952625"/>
                <a:gridCol w="3209925"/>
              </a:tblGrid>
              <a:tr h="5415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요소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 담당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협업·검토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제출물·DB·권한·배포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버전·검토·확정·제출 기록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업무·수정 항목·활동 집계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회의 AI·보고서·내보내기 연결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손정협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흐름·공통 UI·주요 화면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손정효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송승준·손정협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156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사용성 평가·통합 검증·발표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송승준 취합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2062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07363-A14E-4A69-AF1A-56697AFC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개발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D88F4-FF5D-42CC-B12A-B228CD2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12주 계획안. 실제 학사 일정에 맞춰 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BFAF3-8274-4FD4-86F0-BB7D79B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81500"/>
                <a:gridCol w="4876800"/>
              </a:tblGrid>
              <a:tr h="54700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작업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가능한 결과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1~2주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전공별 인터뷰·흐름·ERD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과제의 시작부터 제출까지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3~4주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제출물·요구사항·업무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과제 설정과 업무 분담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5~6주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버전·중간 검토·수정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 공유와 반영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7~8주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검토·통합본 확정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검토된 최종 제출 후보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9~10주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기록·종료·데이터 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이력까지 연결한 전체 흐름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11~12주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파일럿·오류 수정·발표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결과와 시연 자료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8177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DE6A0-611F-4342-9A18-20E27E91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검증 계획과 기대 효과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B2BF3-6459-4EB7-B5A1-D049F8F1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수치는 검증 목표이며 아직 측정한 성과가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8F666-0552-4767-8F59-3A3A8C68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762500"/>
                <a:gridCol w="316230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항목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전공 공통 사용성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서로 다른 전공 3개 팀 파일럿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 없이 핵심 흐름 완주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검토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초안·피드백·수정·확인 관찰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팀별 최소 2회 순환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행동 찾기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업무·검토 요청 수행 관찰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참여자 80% 이상 성공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준비 부담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방식과 최종본 찾기 비교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중앙값 소요시간 30% 감소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D0F59-BE2E-4C6C-A9AD-1826A1EA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추가 검증: 승인 권한, 새 버전 충돌, 중복 제출 요청, 제출 후 재개, 기존 이력 보존</a:t>
            </a:r>
          </a:p>
        </p:txBody>
      </p:sp>
    </p:spTree>
    <p:extLst>
      <p:ext uri="{BB962C8B-B14F-4D97-AF65-F5344CB8AC3E}">
        <p14:creationId xmlns:p14="http://schemas.microsoft.com/office/powerpoint/2010/main" val="186659080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81D64-9048-46BB-A7DE-CD65CFE9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시연 시나리오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54D2C-8677-40EA-96DA-9F1F146D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가상 시장분석 과제로 한 흐름을 보여줍니다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977CF-D9E0-46B5-BC3D-38DFD593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5238750"/>
                <a:gridCol w="4495800"/>
              </a:tblGrid>
              <a:tr h="6207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행동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가치</a:t>
                      </a:r>
                    </a:p>
                  </a:txBody>
                  <a:tcPr marL="91440" marR="91440" marT="45720" marB="45720">
                    <a:solidFill>
                      <a:srgbClr val="122C3B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보고서 조건과 조사 업무 등록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요구사항과 담당 작업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 초안 v1에 보완 요청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 중에도 검토 가능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v2의 근거 보완 확인과 승인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반영과 완료 근거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보고서 검토·확정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완료와 제출 준비 구분</a:t>
                      </a:r>
                    </a:p>
                  </a:txBody>
                  <a:tcPr marL="91440" marR="91440" marT="45720" marB="45720">
                    <a:solidFill>
                      <a:srgbClr val="EDF4F4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기록 저장·프로젝트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C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버전을 냈는지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4623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22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CBC49-CD3B-4D1F-9CEE-42CB099F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고도화의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5D1E4-B7F2-4D2E-AB43-B17A5B5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rPr>
              <a:t>한 팀이 과제 하나를 처음부터 제출까지 완주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4CFC3-1C63-412A-9F69-F7E78933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6D5D5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3B78E-8DEC-42C2-B0BA-5CA9C756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제출 조건에서 출발하고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작업 중간에 계속 검토하며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확정된 결과물을 제출합니다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C8793-3050-475E-BCC3-D8CE59A7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ED5C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ED5CD"/>
                </a:solidFill>
                <a:latin typeface="Malgun Gothic"/>
                <a:ea typeface="Malgun Gothic"/>
                <a:cs typeface="Malgun Gothic"/>
              </a:rPr>
              <a:t>Team Blackbox    송승준 · 손정협 · 손정효</a:t>
            </a:r>
          </a:p>
        </p:txBody>
      </p:sp>
    </p:spTree>
    <p:extLst>
      <p:ext uri="{BB962C8B-B14F-4D97-AF65-F5344CB8AC3E}">
        <p14:creationId xmlns:p14="http://schemas.microsoft.com/office/powerpoint/2010/main" val="7569807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24354-3F20-4FAB-9120-CBB6900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부록. 분석 근거와 기획 전제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A9CFA-B79F-4516-B6FD-FE4F635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기존 구현과 이번 고도화 계획을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9BDDA-5B45-4BAB-B1B8-C0CF26C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573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6E400-2C8E-493B-B9A2-844B05C7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기존 구현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75F24-C460-45F0-BA39-3C108CE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Task·FileVault 모델, MeetingService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ScoreService·AlertService, 프로젝트 홈 코드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44E28-5D79-49FD-81BC-A8012E53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기획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70629-31DF-47AC-AD47-A3789844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PMS 고도화 기획안 v2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대상 사용자·수행 흐름·검토·제출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9E3FA-3FF1-4C26-AED6-D364EAA4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7D79"/>
                </a:solidFill>
                <a:latin typeface="Malgun Gothic"/>
                <a:ea typeface="Malgun Gothic"/>
                <a:cs typeface="Malgun Gothic"/>
              </a:rPr>
              <a:t>확정·미정 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56A8-A2C4-4725-8F54-1CA39371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8239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확정: 팀장 송승준, 팀원 손정협·손정효</a:t>
            </a:r>
          </a:p>
          <a:p xmlns:a="http://schemas.openxmlformats.org/drawingml/2006/main">
            <a:pPr>
              <a:def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22C3B"/>
                </a:solidFill>
                <a:latin typeface="Malgun Gothic"/>
                <a:ea typeface="Malgun Gothic"/>
                <a:cs typeface="Malgun Gothic"/>
              </a:rPr>
              <a:t>제안: 역할·12주 일정  /  미정: EXPO 출품 여부</a:t>
            </a:r>
          </a:p>
        </p:txBody>
      </p:sp>
    </p:spTree>
    <p:extLst>
      <p:ext uri="{BB962C8B-B14F-4D97-AF65-F5344CB8AC3E}">
        <p14:creationId xmlns:p14="http://schemas.microsoft.com/office/powerpoint/2010/main" val="1353992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2026-09-14T06:28:19.6990000Z</dcterms:created>
  <dcterms:modified xsi:type="dcterms:W3CDTF">2026-09-14T06:28:19.6990000Z</dcterms:modified>
</coreProperties>
</file>